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IntelliRank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DCFF"/>
                </a:solidFill>
              </a:defRPr>
            </a:pPr>
            <a:r>
              <a:t>AI-Powered Candidate Discovery &amp;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78C8FF"/>
                </a:solidFill>
              </a:defRPr>
            </a:pPr>
            <a:r>
              <a:t>Redrob Data &amp; AI Challenge: Intelligent Candidate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Team IntelliRank | Solo Participant: Pranav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2038"/>
                </a:solidFill>
              </a:defRPr>
            </a:pPr>
            <a:r>
              <a:t>Quick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038"/>
                </a:solidFill>
              </a:defRPr>
            </a:pPr>
            <a:r>
              <a:t>🌐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u="sng">
                <a:solidFill>
                  <a:srgbClr val="0066CC"/>
                </a:solidFill>
              </a:defRPr>
            </a:pPr>
            <a:r>
              <a:t>https://intellisense-2253d.web.app/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Try the ranking system with sample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038"/>
                </a:solidFill>
              </a:defRPr>
            </a:pPr>
            <a:r>
              <a:t>💻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u="sng">
                <a:solidFill>
                  <a:srgbClr val="0066CC"/>
                </a:solidFill>
              </a:defRPr>
            </a:pPr>
            <a:r>
              <a:t>https://github.com/pranayukey200/Redrob-Data-AI-_challenge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3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Full source code, documentation, and 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038"/>
                </a:solidFill>
              </a:defRPr>
            </a:pPr>
            <a:r>
              <a:t>📊 Sandbox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u="sng">
                <a:solidFill>
                  <a:srgbClr val="0066CC"/>
                </a:solidFill>
              </a:defRPr>
            </a:pPr>
            <a:r>
              <a:t>https://intellisense-2253d.web.app/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Firebase-hosted interactive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System Performance</a:t>
            </a:r>
          </a:p>
          <a:p>
            <a:pPr algn="ctr">
              <a:defRPr sz="1200"/>
            </a:pPr>
            <a:r>
              <a:t>⚡ 69 seconds runtime  |  🎯 100K candidates ranked  |  💻 CPU-only  |  🔒 No network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2038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/>
            </a:pPr>
            <a:r>
              <a:t>Rank 100,000 candidates for a Senior AI Engineer role at Redrob AI (Series A startup)</a:t>
            </a:r>
          </a:p>
          <a:p>
            <a:pPr>
              <a:defRPr sz="1400"/>
            </a:pPr>
            <a:r>
              <a:t>Requirements: Top 100 best-fit candidates with explainable reasoning, completed in under 5 minutes on CPU-only hardware with no external API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3474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2038"/>
                </a:solidFill>
              </a:defRPr>
            </a:pPr>
            <a:r>
              <a:t>Constraints</a:t>
            </a:r>
          </a:p>
          <a:p>
            <a:pPr>
              <a:spcAft>
                <a:spcPts val="600"/>
              </a:spcAft>
              <a:defRPr sz="1300"/>
            </a:pPr>
            <a:r>
              <a:t>⏱️  Runtime: ≤ 5 minutes</a:t>
            </a:r>
          </a:p>
          <a:p>
            <a:pPr>
              <a:spcAft>
                <a:spcPts val="600"/>
              </a:spcAft>
              <a:defRPr sz="1300"/>
            </a:pPr>
            <a:r>
              <a:t>💾  Memory: ≤ 16 GB RAM</a:t>
            </a:r>
          </a:p>
          <a:p>
            <a:pPr>
              <a:spcAft>
                <a:spcPts val="600"/>
              </a:spcAft>
              <a:defRPr sz="1300"/>
            </a:pPr>
            <a:r>
              <a:t>🚫  No GPU allowed</a:t>
            </a:r>
          </a:p>
          <a:p>
            <a:pPr>
              <a:spcAft>
                <a:spcPts val="600"/>
              </a:spcAft>
              <a:defRPr sz="1300"/>
            </a:pPr>
            <a:r>
              <a:t>🌐  No network during ranking</a:t>
            </a:r>
          </a:p>
          <a:p>
            <a:pPr>
              <a:spcAft>
                <a:spcPts val="600"/>
              </a:spcAft>
              <a:defRPr sz="1300"/>
            </a:pPr>
            <a:r>
              <a:t>📊  100 rows with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560320"/>
            <a:ext cx="3474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2038"/>
                </a:solidFill>
              </a:defRPr>
            </a:pPr>
            <a:r>
              <a:t>Evaluation Criteria</a:t>
            </a:r>
          </a:p>
          <a:p>
            <a:pPr>
              <a:spcAft>
                <a:spcPts val="600"/>
              </a:spcAft>
              <a:defRPr sz="1300"/>
            </a:pPr>
            <a:r>
              <a:t>📈  NDCG@10, NDCG@50, MAP</a:t>
            </a:r>
          </a:p>
          <a:p>
            <a:pPr>
              <a:spcAft>
                <a:spcPts val="600"/>
              </a:spcAft>
              <a:defRPr sz="1300"/>
            </a:pPr>
            <a:r>
              <a:t>🎯  P@10 precision</a:t>
            </a:r>
          </a:p>
          <a:p>
            <a:pPr>
              <a:spcAft>
                <a:spcPts val="600"/>
              </a:spcAft>
              <a:defRPr sz="1300"/>
            </a:pPr>
            <a:r>
              <a:t>🧠  Reasoning quality</a:t>
            </a:r>
          </a:p>
          <a:p>
            <a:pPr>
              <a:spcAft>
                <a:spcPts val="600"/>
              </a:spcAft>
              <a:defRPr sz="1300"/>
            </a:pPr>
            <a:r>
              <a:t>⚠️  Honeypot detection</a:t>
            </a:r>
          </a:p>
          <a:p>
            <a:pPr>
              <a:spcAft>
                <a:spcPts val="600"/>
              </a:spcAft>
              <a:defRPr sz="1300"/>
            </a:pPr>
            <a:r>
              <a:t>🏗️  Code reproducibility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2038"/>
                </a:solidFill>
              </a:defRPr>
            </a:pPr>
            <a:r>
              <a:t>Our Solution: IntelliRank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t>A multi-signal AI ranking engine that scores all 100,000 candidates across 4 independent signals and fuses them into a ranked shortlist with per-candidate explanations.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4A90E2"/>
                </a:solidFill>
              </a:defRPr>
            </a:pPr>
            <a:r>
              <a:t>Skill Match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4A90E2"/>
                </a:solidFill>
              </a:defRPr>
            </a:pPr>
            <a:r>
              <a:t>35%</a:t>
            </a:r>
          </a:p>
          <a:p>
            <a:pPr algn="ctr">
              <a:defRPr sz="900"/>
            </a:pPr>
            <a:r>
              <a:t>Cluster coverage × proficiency × duration × endorsements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52C41A"/>
                </a:solidFill>
              </a:defRPr>
            </a:pPr>
            <a:r>
              <a:t>Career Fit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52C41A"/>
                </a:solidFill>
              </a:defRPr>
            </a:pPr>
            <a:r>
              <a:t>30%</a:t>
            </a:r>
          </a:p>
          <a:p>
            <a:pPr algn="ctr">
              <a:defRPr sz="900"/>
            </a:pPr>
            <a:r>
              <a:t>Experience years, title relevance, location, company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AAD14"/>
                </a:solidFill>
              </a:defRPr>
            </a:pPr>
            <a:r>
              <a:t>Semantic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AAD14"/>
                </a:solidFill>
              </a:defRPr>
            </a:pPr>
            <a:r>
              <a:t>20%</a:t>
            </a:r>
          </a:p>
          <a:p>
            <a:pPr algn="ctr">
              <a:defRPr sz="900"/>
            </a:pPr>
            <a:r>
              <a:t>TF-IDF cosine similarity to JD (50K bigram features)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EB4B3C"/>
                </a:solidFill>
              </a:defRPr>
            </a:pPr>
            <a:r>
              <a:t>Behavioral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EB4B3C"/>
                </a:solidFill>
              </a:defRPr>
            </a:pPr>
            <a:r>
              <a:t>15%</a:t>
            </a:r>
          </a:p>
          <a:p>
            <a:pPr algn="ctr">
              <a:defRPr sz="900"/>
            </a:pPr>
            <a:r>
              <a:t>Availability, responsiveness, reliability,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600" b="1"/>
            </a:pPr>
            <a:r>
              <a:t>What Makes IntelliRank Different</a:t>
            </a:r>
          </a:p>
          <a:p>
            <a:pPr algn="ctr">
              <a:defRPr sz="1200"/>
            </a:pPr>
            <a:r>
              <a:t>✓ Graceful degradation with missing signals  |  ✓ Proficiency-weighted skills  |  ✓ Behavioral signals as first-class  |  ✓ Explicit disqualifier penalties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74904" y="1261872"/>
            <a:ext cx="85039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final_score = 0.35×skill  +  0.30×career  +  0.15×behavioral  +  0.20×semantic  (weights renormalized if signal missing)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4904" y="1901952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84FF"/>
                </a:solidFill>
              </a:rPr>
              <a:t>Retrieve</a:t>
            </a:r>
          </a:p>
          <a:p>
            <a:r>
              <a:rPr sz="850" b="0">
                <a:solidFill>
                  <a:srgbClr val="0D1B2A"/>
                </a:solidFill>
              </a:rPr>
              <a:t>All 100K candidates loaded into memory from candidates.jsonl.</a:t>
            </a:r>
          </a:p>
          <a:p>
            <a:r>
              <a:rPr sz="850" b="0">
                <a:solidFill>
                  <a:srgbClr val="0D1B2A"/>
                </a:solidFill>
              </a:rPr>
              <a:t>TF-IDF matrix (100K×50K sparse) precomputed once and cached.</a:t>
            </a:r>
          </a:p>
          <a:p>
            <a:r>
              <a:rPr sz="850" b="0">
                <a:solidFill>
                  <a:srgbClr val="0D1B2A"/>
                </a:solidFill>
              </a:rPr>
              <a:t>No vector DB needed at PoC scale — NumPy cosine similarity.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1000" b="1">
                <a:solidFill>
                  <a:srgbClr val="0084FF"/>
                </a:solidFill>
              </a:rPr>
              <a:t>Score  (per candidate, vectorized)</a:t>
            </a:r>
          </a:p>
          <a:p>
            <a:r>
              <a:rPr sz="850" b="0">
                <a:solidFill>
                  <a:srgbClr val="0D1B2A"/>
                </a:solidFill>
              </a:rPr>
              <a:t>  Skill Match: cluster coverage × proficiency/duration/endorsement weights</a:t>
            </a:r>
          </a:p>
          <a:p>
            <a:r>
              <a:rPr sz="850" b="0">
                <a:solidFill>
                  <a:srgbClr val="0D1B2A"/>
                </a:solidFill>
              </a:rPr>
              <a:t>  Career Fit:  Gaussian(exp_years, mu=7, sigma=2) × title × location × company_type</a:t>
            </a:r>
          </a:p>
          <a:p>
            <a:r>
              <a:rPr sz="850" b="0">
                <a:solidFill>
                  <a:srgbClr val="0D1B2A"/>
                </a:solidFill>
              </a:rPr>
              <a:t>  Behavioral: availability × responsiveness × reliability × engagement</a:t>
            </a:r>
          </a:p>
          <a:p>
            <a:r>
              <a:rPr sz="850" b="0">
                <a:solidFill>
                  <a:srgbClr val="0D1B2A"/>
                </a:solidFill>
              </a:rPr>
              <a:t>  Semantic:   cosine_sim(TF-IDF(candidate), TF-IDF(JD_query)) × 100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1901952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84FF"/>
                </a:solidFill>
              </a:rPr>
              <a:t>Rank &amp; Output</a:t>
            </a:r>
          </a:p>
          <a:p>
            <a:r>
              <a:rPr sz="850" b="0">
                <a:solidFill>
                  <a:srgbClr val="0D1B2A"/>
                </a:solidFill>
              </a:rPr>
              <a:t>Sort by final_score DESC, candidate_id ASC (tie-break).</a:t>
            </a:r>
          </a:p>
          <a:p>
            <a:r>
              <a:rPr sz="850" b="0">
                <a:solidFill>
                  <a:srgbClr val="0D1B2A"/>
                </a:solidFill>
              </a:rPr>
              <a:t>Top-100 exported as CSV + XLSX with reasoning column.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900" b="1">
                <a:solidFill>
                  <a:srgbClr val="0D1B2A"/>
                </a:solidFill>
              </a:rPr>
              <a:t>Weight Presets (tunable via UI):</a:t>
            </a:r>
          </a:p>
          <a:p>
            <a:r>
              <a:rPr sz="800" b="0">
                <a:solidFill>
                  <a:srgbClr val="0D1B2A"/>
                </a:solidFill>
              </a:rPr>
              <a:t>  Balanced:     skill=35%  career=30%  sem=20%  beh=15%</a:t>
            </a:r>
          </a:p>
          <a:p>
            <a:r>
              <a:rPr sz="800" b="0">
                <a:solidFill>
                  <a:srgbClr val="0D1B2A"/>
                </a:solidFill>
              </a:rPr>
              <a:t>  Senior Hire:  skill=30%  career=40%  sem=15%  beh=15%</a:t>
            </a:r>
          </a:p>
          <a:p>
            <a:r>
              <a:rPr sz="800" b="0">
                <a:solidFill>
                  <a:srgbClr val="0D1B2A"/>
                </a:solidFill>
              </a:rPr>
              <a:t>  IC / Hacker:  skill=40%  career=25%  sem=20%  beh=15%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900" b="1">
                <a:solidFill>
                  <a:srgbClr val="10B981"/>
                </a:solidFill>
              </a:rPr>
              <a:t>Runtime: 33 seconds  (100K candidates, CPU-only, no GPU)</a:t>
            </a:r>
          </a:p>
        </p:txBody>
      </p:sp>
      <p:pic>
        <p:nvPicPr>
          <p:cNvPr id="82" name="Picture 81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8229600" cy="5883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74904" y="1261872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84FF"/>
                </a:solidFill>
              </a:rPr>
              <a:t>How Ranking Decisions Are Explained</a:t>
            </a:r>
          </a:p>
          <a:p>
            <a:r>
              <a:rPr sz="850" b="0">
                <a:solidFill>
                  <a:srgbClr val="0D1B2A"/>
                </a:solidFill>
              </a:rPr>
              <a:t>Fully deterministic templated reasoning — no LLM, no hallucination risk.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900" b="1">
                <a:solidFill>
                  <a:srgbClr val="0D1B2A"/>
                </a:solidFill>
              </a:rPr>
              <a:t>Example output (rank #1):</a:t>
            </a:r>
          </a:p>
          <a:p>
            <a:r>
              <a:rPr sz="800" b="0">
                <a:solidFill>
                  <a:srgbClr val="4A6080"/>
                </a:solidFill>
              </a:rPr>
              <a:t>"Staff Machine Learning Engineer with 7.0 yrs exp; covers</a:t>
            </a:r>
          </a:p>
          <a:p>
            <a:r>
              <a:rPr sz="800" b="0">
                <a:solidFill>
                  <a:srgbClr val="4A6080"/>
                </a:solidFill>
              </a:rPr>
              <a:t>5/5 must-have clusters (embeddings/retrieval, vector/db,</a:t>
            </a:r>
          </a:p>
          <a:p>
            <a:r>
              <a:rPr sz="800" b="0">
                <a:solidFill>
                  <a:srgbClr val="4A6080"/>
                </a:solidFill>
              </a:rPr>
              <a:t>python); India-based (Kochi); open to work; notice 60d;</a:t>
            </a:r>
          </a:p>
          <a:p>
            <a:r>
              <a:rPr sz="800" b="0">
                <a:solidFill>
                  <a:srgbClr val="4A6080"/>
                </a:solidFill>
              </a:rPr>
              <a:t>response rate 95%; final score 72.60"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850" b="0">
                <a:solidFill>
                  <a:srgbClr val="0D1B2A"/>
                </a:solidFill>
              </a:rPr>
              <a:t>Each field in the reasoning maps directly to a raw data</a:t>
            </a:r>
          </a:p>
          <a:p>
            <a:r>
              <a:rPr sz="850" b="0">
                <a:solidFill>
                  <a:srgbClr val="0D1B2A"/>
                </a:solidFill>
              </a:rPr>
              <a:t>field — no inference, no fabrication.</a:t>
            </a:r>
          </a:p>
          <a:p>
            <a:r>
              <a:rPr sz="850" b="0">
                <a:solidFill>
                  <a:srgbClr val="0D1B2A"/>
                </a:solidFill>
              </a:rPr>
              <a:t>Score breakdown panel in UI shows 4 sub-scores with bars + radar chart.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3440" y="1261872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84FF"/>
                </a:solidFill>
              </a:rPr>
              <a:t>Data Quality &amp; Validation</a:t>
            </a:r>
          </a:p>
          <a:p>
            <a:r>
              <a:rPr sz="900" b="1">
                <a:solidFill>
                  <a:srgbClr val="0D1B2A"/>
                </a:solidFill>
              </a:rPr>
              <a:t>Missing signals:</a:t>
            </a:r>
          </a:p>
          <a:p>
            <a:r>
              <a:rPr sz="850" b="0">
                <a:solidFill>
                  <a:srgbClr val="0D1B2A"/>
                </a:solidFill>
              </a:rPr>
              <a:t>  Signal excluded → weights renormalized over remaining signals.</a:t>
            </a:r>
          </a:p>
          <a:p>
            <a:r>
              <a:rPr sz="850" b="0">
                <a:solidFill>
                  <a:srgbClr val="0D1B2A"/>
                </a:solidFill>
              </a:rPr>
              <a:t>  Never scored as 0 (would unfairly penalize sparse profiles).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900" b="1">
                <a:solidFill>
                  <a:srgbClr val="0D1B2A"/>
                </a:solidFill>
              </a:rPr>
              <a:t>Wrong-domain detection:</a:t>
            </a:r>
          </a:p>
          <a:p>
            <a:r>
              <a:rPr sz="850" b="0">
                <a:solidFill>
                  <a:srgbClr val="0D1B2A"/>
                </a:solidFill>
              </a:rPr>
              <a:t>  Explicit keyword list: computer vision, speech, robotics.</a:t>
            </a:r>
          </a:p>
          <a:p>
            <a:r>
              <a:rPr sz="850" b="0">
                <a:solidFill>
                  <a:srgbClr val="0D1B2A"/>
                </a:solidFill>
              </a:rPr>
              <a:t>  Each wrong-domain keyword found → -10% skill penalty.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900" b="1">
                <a:solidFill>
                  <a:srgbClr val="0D1B2A"/>
                </a:solidFill>
              </a:rPr>
              <a:t>Consulting firm penalty:</a:t>
            </a:r>
          </a:p>
          <a:p>
            <a:r>
              <a:rPr sz="850" b="0">
                <a:solidFill>
                  <a:srgbClr val="0D1B2A"/>
                </a:solidFill>
              </a:rPr>
              <a:t>  Pure consulting career (TCS/Infosys/etc.) → company_type_score = 0.15</a:t>
            </a:r>
          </a:p>
          <a:p>
            <a:r>
              <a:rPr sz="850" b="0">
                <a:solidFill>
                  <a:srgbClr val="0D1B2A"/>
                </a:solidFill>
              </a:rPr>
              <a:t>  Mixed consulting+product → 0.45  |  All product → 0.95</a:t>
            </a:r>
          </a:p>
          <a:p>
            <a:r>
              <a:rPr sz="400" b="0">
                <a:solidFill>
                  <a:srgbClr val="0D1B2A"/>
                </a:solidFill>
              </a:rPr>
              <a:t/>
            </a:r>
          </a:p>
          <a:p>
            <a:r>
              <a:rPr sz="850" b="0">
                <a:solidFill>
                  <a:srgbClr val="0D1B2A"/>
                </a:solidFill>
              </a:rPr>
              <a:t>Suspicious profiles filtered by low behavioral composite (&lt; 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20040" y="1325880"/>
            <a:ext cx="1325880" cy="347472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Step 1: JD Config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16916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1B2A"/>
                </a:solidFill>
              </a:rPr>
              <a:t>5 must-have clusters,
exp range, disqualifiers,
location prefs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55063" y="14173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→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37360" y="1325880"/>
            <a:ext cx="1325880" cy="347472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Step 2: Load &amp; Normalize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37360" y="16916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1B2A"/>
                </a:solidFill>
              </a:rPr>
              <a:t>100K candidates.jsonl
→ adapter.py
→ structured profiles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72383" y="14173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→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154680" y="1325880"/>
            <a:ext cx="1325880" cy="347472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Step 3: TF-IDF Precompute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54680" y="16916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1B2A"/>
                </a:solidFill>
              </a:rPr>
              <a:t>Offline once
421MB sparse matrix
cached to disk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89704" y="14173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→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0" y="1325880"/>
            <a:ext cx="1325880" cy="347472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Step 4: Score All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0" y="16916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1B2A"/>
                </a:solidFill>
              </a:rPr>
              <a:t>skill + career
+ behavioral
+ semantic (TF-IDF)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07024" y="14173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→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989320" y="1325880"/>
            <a:ext cx="1325880" cy="347472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Step 5: Fuse &amp; Rank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89320" y="16916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1B2A"/>
                </a:solidFill>
              </a:rPr>
              <a:t>Weighted average
+ renormalize
→ sort top-100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24344" y="141732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→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06640" y="1325880"/>
            <a:ext cx="1325880" cy="347472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Step 6: Output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06640" y="16916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D1B2A"/>
                </a:solidFill>
              </a:rPr>
              <a:t>CSV + XLSX
+ Web UI
+ Firestore log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0040" y="2971800"/>
            <a:ext cx="8503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84FF"/>
                </a:solidFill>
              </a:rPr>
              <a:t>Key Design Decisions:</a:t>
            </a:r>
          </a:p>
          <a:p>
            <a:r>
              <a:rPr sz="850" b="0">
                <a:solidFill>
                  <a:srgbClr val="0D1B2A"/>
                </a:solidFill>
              </a:rPr>
              <a:t>  Fully offline ranking — no network calls during scoring (submission spec compliant).</a:t>
            </a:r>
          </a:p>
          <a:p>
            <a:r>
              <a:rPr sz="850" b="0">
                <a:solidFill>
                  <a:srgbClr val="0D1B2A"/>
                </a:solidFill>
              </a:rPr>
              <a:t>  Pre-compute once, serve static JSON — Firebase Hosting delivers results in &lt;2s (no backend needed).</a:t>
            </a:r>
          </a:p>
          <a:p>
            <a:r>
              <a:rPr sz="850" b="0">
                <a:solidFill>
                  <a:srgbClr val="0D1B2A"/>
                </a:solidFill>
              </a:rPr>
              <a:t>  Single adapter.py — all raw field name changes isolated to one file; rest of pipeline unchanged.</a:t>
            </a:r>
          </a:p>
          <a:p>
            <a:r>
              <a:rPr sz="850" b="0">
                <a:solidFill>
                  <a:srgbClr val="0D1B2A"/>
                </a:solidFill>
              </a:rPr>
              <a:t>  Missing-signal renormalization — never zeros a candidate unfairly.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274320" y="914400"/>
            <a:ext cx="23774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candidates.jsonl  (100K records, 465 MB)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71600" y="1298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1554480"/>
            <a:ext cx="2377440" cy="347472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adapter.py  — normalize()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16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176272"/>
            <a:ext cx="2377440" cy="347472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scorer.py  — 4 sub-scores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71600" y="2542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2798064"/>
            <a:ext cx="2377440" cy="347472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fuse_scores()  — weighted average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926080" y="914400"/>
            <a:ext cx="25603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TF-IDF Cache  (precomputed, offline)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69080" y="1298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26080" y="1554480"/>
            <a:ext cx="2560320" cy="347472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tfidf_semantic.py  — cosine sim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690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26080" y="2176272"/>
            <a:ext cx="2560320" cy="347472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semantic_score  → scorer pipeline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0720" y="914400"/>
            <a:ext cx="25603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jd_config.py  (JD parsed offline)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03720" y="1298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60720" y="1554480"/>
            <a:ext cx="2560320" cy="347472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Cluster weights, disqualifiers, prefs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71600" y="31638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3419856"/>
            <a:ext cx="8503920" cy="384048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Sort → Top-100  →  export_candidates_json.py  →  candidates_data.json  (420 KB)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71600" y="382219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4FF"/>
                </a:solidFill>
              </a:rPr>
              <a:t>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050791"/>
            <a:ext cx="40690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Firebase Hosting  — React UI (no backend)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434840" y="4050791"/>
            <a:ext cx="43434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  — ranking run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374904" y="1261872"/>
            <a:ext cx="8412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Top 10 Ranked Candidates  (from 100,000)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" y="1572768"/>
            <a:ext cx="384048" cy="237744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77240" y="1572768"/>
            <a:ext cx="2560320" cy="237744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Title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383280" y="1572768"/>
            <a:ext cx="530352" cy="237744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Exp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931920" y="1572768"/>
            <a:ext cx="1234440" cy="237744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212080" y="1572768"/>
            <a:ext cx="438912" cy="237744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0" y="1572768"/>
            <a:ext cx="685800" cy="237744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Notice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00800" y="1572768"/>
            <a:ext cx="1472184" cy="237744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74904" y="1810512"/>
            <a:ext cx="384048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7240" y="1810512"/>
            <a:ext cx="256032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Staff Machine Learning Engin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83280" y="1810512"/>
            <a:ext cx="53035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7.0y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31920" y="1810512"/>
            <a:ext cx="123444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Kochi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212080" y="1810512"/>
            <a:ext cx="43891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669280" y="1810512"/>
            <a:ext cx="68580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60d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1810512"/>
            <a:ext cx="1472184" cy="201168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72.60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74904" y="2029967"/>
            <a:ext cx="3840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77240" y="2029967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Lead AI Engineer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383280" y="2029967"/>
            <a:ext cx="53035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6.7y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931920" y="2029967"/>
            <a:ext cx="12344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Jaipur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212080" y="2029967"/>
            <a:ext cx="4389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0" y="2029967"/>
            <a:ext cx="685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30d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0" y="2029967"/>
            <a:ext cx="1472184" cy="201168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71.19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74904" y="2249424"/>
            <a:ext cx="384048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77240" y="2249424"/>
            <a:ext cx="256032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Senior Machine Learning Engi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383280" y="2249424"/>
            <a:ext cx="53035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7.2y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31920" y="2249424"/>
            <a:ext cx="123444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Noida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212080" y="2249424"/>
            <a:ext cx="43891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69280" y="2249424"/>
            <a:ext cx="68580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15d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400800" y="2249424"/>
            <a:ext cx="1472184" cy="201168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71.05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74904" y="2468880"/>
            <a:ext cx="3840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77240" y="2468880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Recommendation Systems Engin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383280" y="2468880"/>
            <a:ext cx="53035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6.7y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931920" y="2468880"/>
            <a:ext cx="12344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Indore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12080" y="2468880"/>
            <a:ext cx="4389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69280" y="2468880"/>
            <a:ext cx="685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30d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00800" y="2468880"/>
            <a:ext cx="1472184" cy="201168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67.95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4904" y="2688336"/>
            <a:ext cx="384048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77240" y="2688336"/>
            <a:ext cx="256032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Senior Data Scientist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383280" y="2688336"/>
            <a:ext cx="53035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7.4y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931920" y="2688336"/>
            <a:ext cx="123444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Delhi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212080" y="2688336"/>
            <a:ext cx="43891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2688336"/>
            <a:ext cx="68580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90d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400800" y="2688336"/>
            <a:ext cx="1472184" cy="201168"/>
          </a:xfrm>
          <a:prstGeom prst="rect">
            <a:avLst/>
          </a:prstGeom>
          <a:solidFill>
            <a:srgbClr val="0084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65.20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74904" y="2907791"/>
            <a:ext cx="3840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#6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77240" y="2907791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Senior NLP Engineer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383280" y="2907791"/>
            <a:ext cx="53035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8.0y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931920" y="2907791"/>
            <a:ext cx="12344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Vizag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212080" y="2907791"/>
            <a:ext cx="4389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No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669280" y="2907791"/>
            <a:ext cx="685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30d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00800" y="2907791"/>
            <a:ext cx="1472184" cy="201168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64.70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74904" y="3127248"/>
            <a:ext cx="384048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#7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77240" y="3127248"/>
            <a:ext cx="256032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Senior NLP Engineer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383280" y="3127248"/>
            <a:ext cx="53035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7.8y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931920" y="3127248"/>
            <a:ext cx="123444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Indore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212080" y="3127248"/>
            <a:ext cx="43891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69280" y="3127248"/>
            <a:ext cx="68580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15d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400800" y="3127248"/>
            <a:ext cx="1472184" cy="201168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64.36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74904" y="3346704"/>
            <a:ext cx="3840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77240" y="3346704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Recommendation Systems Engin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383280" y="3346704"/>
            <a:ext cx="53035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7.9y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931920" y="3346704"/>
            <a:ext cx="12344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Noida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212080" y="3346704"/>
            <a:ext cx="4389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669280" y="3346704"/>
            <a:ext cx="685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30d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400800" y="3346704"/>
            <a:ext cx="1472184" cy="201168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64.33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74904" y="3566160"/>
            <a:ext cx="384048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#9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77240" y="3566160"/>
            <a:ext cx="256032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Senior NLP Engineer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383280" y="3566160"/>
            <a:ext cx="53035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5.2y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931920" y="3566160"/>
            <a:ext cx="123444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Chennai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212080" y="3566160"/>
            <a:ext cx="438912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No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669280" y="3566160"/>
            <a:ext cx="68580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60d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400800" y="3566160"/>
            <a:ext cx="1472184" cy="201168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64.03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74904" y="3785616"/>
            <a:ext cx="3840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#10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77240" y="3785616"/>
            <a:ext cx="2560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Search Engineer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383280" y="3785616"/>
            <a:ext cx="53035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7.2y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931920" y="3785616"/>
            <a:ext cx="12344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Trivandrum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212080" y="3785616"/>
            <a:ext cx="4389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Yes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669280" y="3785616"/>
            <a:ext cx="685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D1B2A"/>
                </a:solidFill>
              </a:rPr>
              <a:t>120d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400800" y="3785616"/>
            <a:ext cx="1472184" cy="201168"/>
          </a:xfrm>
          <a:prstGeom prst="rect">
            <a:avLst/>
          </a:prstGeom>
          <a:solidFill>
            <a:srgbClr val="319A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63.88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74904" y="3913632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84FF"/>
                </a:solidFill>
              </a:rPr>
              <a:t>Performance:</a:t>
            </a:r>
          </a:p>
          <a:p>
            <a:r>
              <a:rPr sz="800" b="0">
                <a:solidFill>
                  <a:srgbClr val="0D1B2A"/>
                </a:solidFill>
              </a:rPr>
              <a:t>  Runtime: 33s for 100K candidates on CPU (Win11, 8-core, 16GB RAM, no GPU)  |  Web demo: &lt;5s (pre-scored JSON on Firebase CDN)  |  Top score: 72.60  |  Score range: 48.81–72.60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74904" y="1261872"/>
            <a:ext cx="18288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21992" y="1261872"/>
            <a:ext cx="34747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715000" y="1261872"/>
            <a:ext cx="31089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74904" y="1536192"/>
            <a:ext cx="182880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Scoring Pipeline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21992" y="1536192"/>
            <a:ext cx="347472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Python 3.11 + NumPy + scikit-learn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715000" y="1536192"/>
            <a:ext cx="310896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Fast vectorized ops, no GPU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74904" y="178308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Semantic Engine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21992" y="1783080"/>
            <a:ext cx="3474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TF-IDF (sklearn, 50K bigrams)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715000" y="1783080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Fully offline, no model download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74904" y="2029967"/>
            <a:ext cx="182880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Skill Scoring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21992" y="2029967"/>
            <a:ext cx="347472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Custom rule engine (scorer.py)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715000" y="2029967"/>
            <a:ext cx="310896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Transparent, tunable, deterministic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74904" y="2276856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Data Normalization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21992" y="2276856"/>
            <a:ext cx="3474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adapter.py (single file)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715000" y="2276856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All field changes isolated here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74904" y="2523744"/>
            <a:ext cx="182880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API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21992" y="2523744"/>
            <a:ext cx="347472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FastAPI (local dev)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715000" y="2523744"/>
            <a:ext cx="310896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Auto OpenAPI docs, async-ready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74904" y="2770632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Frontend Framework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21992" y="2770632"/>
            <a:ext cx="3474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React 19 + Vite + TypeScript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715000" y="2770632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Fast build, modern DX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74904" y="3017520"/>
            <a:ext cx="182880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Styling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221992" y="3017520"/>
            <a:ext cx="347472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Tailwind CSS + Framer Motion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715000" y="3017520"/>
            <a:ext cx="310896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Responsive, smooth animations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74904" y="3264408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Charts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221992" y="3264408"/>
            <a:ext cx="3474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Recharts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15000" y="3264408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React-native, SVG-based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74904" y="3511296"/>
            <a:ext cx="182880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Hosting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21992" y="3511296"/>
            <a:ext cx="347472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Firebase Hosting (static CDN)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15000" y="3511296"/>
            <a:ext cx="310896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Global edge, free tier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74904" y="3758184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State Persistence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221992" y="3758184"/>
            <a:ext cx="3474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Firestore (GCP)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715000" y="3758184"/>
            <a:ext cx="310896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Stores ranking run history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74904" y="4005072"/>
            <a:ext cx="182880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AI Assistance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221992" y="4005072"/>
            <a:ext cx="347472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Claude Sonnet 4.6 (Anthropic)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715000" y="4005072"/>
            <a:ext cx="3108960" cy="2286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D1B2A"/>
                </a:solidFill>
              </a:rPr>
              <a:t>Architecture, pipeline, debugging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74904" y="1261872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84FF"/>
                </a:solidFill>
              </a:rPr>
              <a:t>GitHub Repository  (public)</a:t>
            </a:r>
          </a:p>
          <a:p>
            <a:r>
              <a:rPr sz="900" b="0">
                <a:solidFill>
                  <a:srgbClr val="0D1B2A"/>
                </a:solidFill>
              </a:rPr>
              <a:t>  https://github.com/pranayukey200/Redrob-Data-AI-_challenge</a:t>
            </a:r>
          </a:p>
          <a:p>
            <a:r>
              <a:rPr sz="500" b="0">
                <a:solidFill>
                  <a:srgbClr val="0D1B2A"/>
                </a:solidFill>
              </a:rPr>
              <a:t/>
            </a:r>
          </a:p>
          <a:p>
            <a:r>
              <a:rPr sz="1000" b="1">
                <a:solidFill>
                  <a:srgbClr val="0084FF"/>
                </a:solidFill>
              </a:rPr>
              <a:t>Live Demo  (hosted on Firebase)</a:t>
            </a:r>
          </a:p>
          <a:p>
            <a:r>
              <a:rPr sz="900" b="0">
                <a:solidFill>
                  <a:srgbClr val="0D1B2A"/>
                </a:solidFill>
              </a:rPr>
              <a:t>  https://intellisense-2253d.web.app</a:t>
            </a:r>
          </a:p>
          <a:p>
            <a:r>
              <a:rPr sz="850" b="0">
                <a:solidFill>
                  <a:srgbClr val="4A6080"/>
                </a:solidFill>
              </a:rPr>
              <a:t>  — Paste or select the JD, choose weight preset, click Find Best-Fit Candidates</a:t>
            </a:r>
          </a:p>
          <a:p>
            <a:r>
              <a:rPr sz="850" b="0">
                <a:solidFill>
                  <a:srgbClr val="4A6080"/>
                </a:solidFill>
              </a:rPr>
              <a:t>  — Loads 100K pre-scored candidates, re-ranks in browser in &lt;1s</a:t>
            </a:r>
          </a:p>
          <a:p>
            <a:r>
              <a:rPr sz="500" b="0">
                <a:solidFill>
                  <a:srgbClr val="0D1B2A"/>
                </a:solidFill>
              </a:rPr>
              <a:t/>
            </a:r>
          </a:p>
          <a:p>
            <a:r>
              <a:rPr sz="1000" b="1">
                <a:solidFill>
                  <a:srgbClr val="0084FF"/>
                </a:solidFill>
              </a:rPr>
              <a:t>Submission Files</a:t>
            </a:r>
          </a:p>
          <a:p>
            <a:r>
              <a:rPr sz="900" b="0">
                <a:solidFill>
                  <a:srgbClr val="0D1B2A"/>
                </a:solidFill>
              </a:rPr>
              <a:t>  output/submission.csv      — top-100 ranked candidates  (candidate_id, rank, score, reasoning)</a:t>
            </a:r>
          </a:p>
          <a:p>
            <a:r>
              <a:rPr sz="900" b="0">
                <a:solidFill>
                  <a:srgbClr val="0D1B2A"/>
                </a:solidFill>
              </a:rPr>
              <a:t>  output/ranked_candidates.xlsx  — formatted XLSX with all 15 columns + colour-coded scores</a:t>
            </a:r>
          </a:p>
          <a:p>
            <a:r>
              <a:rPr sz="900" b="0">
                <a:solidFill>
                  <a:srgbClr val="0D1B2A"/>
                </a:solidFill>
              </a:rPr>
              <a:t>  output/IntelliRank_Deck.pptx   — this presentation (export as PDF for submission)</a:t>
            </a:r>
          </a:p>
          <a:p>
            <a:r>
              <a:rPr sz="500" b="0">
                <a:solidFill>
                  <a:srgbClr val="0D1B2A"/>
                </a:solidFill>
              </a:rPr>
              <a:t/>
            </a:r>
          </a:p>
          <a:p>
            <a:r>
              <a:rPr sz="800" b="0">
                <a:solidFill>
                  <a:srgbClr val="4A6080"/>
                </a:solidFill>
              </a:rPr>
              <a:t>Contact:  pranayuworkspace@gmail.com  |  Team: IntelliRank  |  Solo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Results &amp; Score Distribution</a:t>
            </a:r>
          </a:p>
        </p:txBody>
      </p:sp>
      <p:pic>
        <p:nvPicPr>
          <p:cNvPr id="4" name="Picture 3" descr="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642488"/>
          </a:xfrm>
          <a:prstGeom prst="rect">
            <a:avLst/>
          </a:prstGeom>
        </p:spPr>
      </p:pic>
      <p:pic>
        <p:nvPicPr>
          <p:cNvPr id="5" name="Picture 4" descr="rank_vs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114800" cy="2684201"/>
          </a:xfrm>
          <a:prstGeom prst="rect">
            <a:avLst/>
          </a:prstGeom>
        </p:spPr>
      </p:pic>
      <p:pic>
        <p:nvPicPr>
          <p:cNvPr id="6" name="Picture 5" descr="signal_weights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114800"/>
            <a:ext cx="4572000" cy="46047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Top 10 Candidates - Sample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/>
            </a:pPr>
            <a:r>
              <a:t>#1: CAND_0077337 (Score: 72.6045)</a:t>
            </a:r>
          </a:p>
          <a:p>
            <a:pPr>
              <a:spcAft>
                <a:spcPts val="300"/>
              </a:spcAft>
              <a:defRPr sz="900"/>
            </a:pPr>
            <a:r>
              <a:t>  Staff Machine Learning Engineer with 7.0 yrs exp; covers 5/5 must-have cluste...</a:t>
            </a:r>
          </a:p>
          <a:p>
            <a:pPr>
              <a:spcAft>
                <a:spcPts val="300"/>
              </a:spcAft>
              <a:defRPr sz="900"/>
            </a:pPr>
            <a:r>
              <a:t>#2: CAND_0081846 (Score: 71.1860)</a:t>
            </a:r>
          </a:p>
          <a:p>
            <a:pPr>
              <a:spcAft>
                <a:spcPts val="300"/>
              </a:spcAft>
              <a:defRPr sz="900"/>
            </a:pPr>
            <a:r>
              <a:t>  Lead AI Engineer with 6.7 yrs exp; covers 5/5 must-have clusters (embeddings/...</a:t>
            </a:r>
          </a:p>
          <a:p>
            <a:pPr>
              <a:spcAft>
                <a:spcPts val="300"/>
              </a:spcAft>
              <a:defRPr sz="900"/>
            </a:pPr>
            <a:r>
              <a:t>#3: CAND_0018499 (Score: 71.0490)</a:t>
            </a:r>
          </a:p>
          <a:p>
            <a:pPr>
              <a:spcAft>
                <a:spcPts val="300"/>
              </a:spcAft>
              <a:defRPr sz="900"/>
            </a:pPr>
            <a:r>
              <a:t>  Senior Machine Learning Engineer with 7.2 yrs exp; covers 5/5 must-have clust...</a:t>
            </a:r>
          </a:p>
          <a:p>
            <a:pPr>
              <a:spcAft>
                <a:spcPts val="300"/>
              </a:spcAft>
              <a:defRPr sz="900"/>
            </a:pPr>
            <a:r>
              <a:t>#4: CAND_0041610 (Score: 67.9530)</a:t>
            </a:r>
          </a:p>
          <a:p>
            <a:pPr>
              <a:spcAft>
                <a:spcPts val="300"/>
              </a:spcAft>
              <a:defRPr sz="900"/>
            </a:pPr>
            <a:r>
              <a:t>  Recommendation Systems Engineer with 6.7 yrs exp; covers 5/5 must-have cluste...</a:t>
            </a:r>
          </a:p>
          <a:p>
            <a:pPr>
              <a:spcAft>
                <a:spcPts val="300"/>
              </a:spcAft>
              <a:defRPr sz="900"/>
            </a:pPr>
            <a:r>
              <a:t>#5: CAND_0005649 (Score: 65.1960)</a:t>
            </a:r>
          </a:p>
          <a:p>
            <a:pPr>
              <a:spcAft>
                <a:spcPts val="300"/>
              </a:spcAft>
              <a:defRPr sz="900"/>
            </a:pPr>
            <a:r>
              <a:t>  Senior Data Scientist with 7.4 yrs exp; covers 5/5 must-have clusters (embedd...</a:t>
            </a:r>
          </a:p>
          <a:p>
            <a:pPr>
              <a:spcAft>
                <a:spcPts val="300"/>
              </a:spcAft>
              <a:defRPr sz="900"/>
            </a:pPr>
            <a:r>
              <a:t>#6: CAND_0033861 (Score: 64.6980)</a:t>
            </a:r>
          </a:p>
          <a:p>
            <a:pPr>
              <a:spcAft>
                <a:spcPts val="300"/>
              </a:spcAft>
              <a:defRPr sz="900"/>
            </a:pPr>
            <a:r>
              <a:t>  Senior NLP Engineer with 8.0 yrs exp; covers 5/5 must-have clusters (embeddin...</a:t>
            </a:r>
          </a:p>
          <a:p>
            <a:pPr>
              <a:spcAft>
                <a:spcPts val="300"/>
              </a:spcAft>
              <a:defRPr sz="900"/>
            </a:pPr>
            <a:r>
              <a:t>#7: CAND_0011687 (Score: 64.3555)</a:t>
            </a:r>
          </a:p>
          <a:p>
            <a:pPr>
              <a:spcAft>
                <a:spcPts val="300"/>
              </a:spcAft>
              <a:defRPr sz="900"/>
            </a:pPr>
            <a:r>
              <a:t>  Senior NLP Engineer with 7.8 yrs exp; covers 3/5 must-have clusters (embeddin...</a:t>
            </a:r>
          </a:p>
          <a:p>
            <a:pPr>
              <a:spcAft>
                <a:spcPts val="300"/>
              </a:spcAft>
              <a:defRPr sz="900"/>
            </a:pPr>
            <a:r>
              <a:t>#8: CAND_0007009 (Score: 64.3290)</a:t>
            </a:r>
          </a:p>
          <a:p>
            <a:pPr>
              <a:spcAft>
                <a:spcPts val="300"/>
              </a:spcAft>
              <a:defRPr sz="900"/>
            </a:pPr>
            <a:r>
              <a:t>  Recommendation Systems Engineer with 7.9 yrs exp; covers 5/5 must-have cluste...</a:t>
            </a:r>
          </a:p>
          <a:p>
            <a:pPr>
              <a:spcAft>
                <a:spcPts val="300"/>
              </a:spcAft>
              <a:defRPr sz="900"/>
            </a:pPr>
            <a:r>
              <a:t>#9: CAND_0005260 (Score: 64.0270)</a:t>
            </a:r>
          </a:p>
          <a:p>
            <a:pPr>
              <a:spcAft>
                <a:spcPts val="300"/>
              </a:spcAft>
              <a:defRPr sz="900"/>
            </a:pPr>
            <a:r>
              <a:t>  Senior NLP Engineer with 5.2 yrs exp; covers 5/5 must-have clusters (embeddin...</a:t>
            </a:r>
          </a:p>
          <a:p>
            <a:pPr>
              <a:spcAft>
                <a:spcPts val="300"/>
              </a:spcAft>
              <a:defRPr sz="900"/>
            </a:pPr>
            <a:r>
              <a:t>#10: CAND_0028793 (Score: 63.8835)</a:t>
            </a:r>
          </a:p>
          <a:p>
            <a:pPr>
              <a:spcAft>
                <a:spcPts val="300"/>
              </a:spcAft>
              <a:defRPr sz="900"/>
            </a:pPr>
            <a:r>
              <a:t>  Search Engineer with 7.2 yrs exp; covers 5/5 must-have clusters (embeddings/r...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